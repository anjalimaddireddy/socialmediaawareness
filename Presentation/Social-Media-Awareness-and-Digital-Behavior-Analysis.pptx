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B0604020202020204" charset="0"/>
      <p:regular r:id="rId13"/>
    </p:embeddedFont>
    <p:embeddedFont>
      <p:font typeface="Manrope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179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02358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Media Awareness &amp; Digital Behavior Analysis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563490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comprehensive study examining usage patterns, cyber safety awareness, and productivity impact across a diverse sample of social media users — offering data-driven insights for educators, researchers, and digital wellbeing advocates.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3303166"/>
            <a:ext cx="974824" cy="233214"/>
          </a:xfrm>
          <a:prstGeom prst="roundRect">
            <a:avLst>
              <a:gd name="adj" fmla="val 38297"/>
            </a:avLst>
          </a:prstGeom>
          <a:solidFill>
            <a:srgbClr val="FFD7CC"/>
          </a:solidFill>
          <a:ln/>
        </p:spPr>
      </p:sp>
      <p:sp>
        <p:nvSpPr>
          <p:cNvPr id="6" name="Text 3"/>
          <p:cNvSpPr/>
          <p:nvPr/>
        </p:nvSpPr>
        <p:spPr>
          <a:xfrm>
            <a:off x="570533" y="3340373"/>
            <a:ext cx="1283196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RESEARCH STUDY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532930" y="3298403"/>
            <a:ext cx="1055787" cy="242739"/>
          </a:xfrm>
          <a:prstGeom prst="roundRect">
            <a:avLst>
              <a:gd name="adj" fmla="val 36794"/>
            </a:avLst>
          </a:prstGeom>
          <a:noFill/>
          <a:ln w="4763">
            <a:solidFill>
              <a:srgbClr val="FF70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12106" y="3340373"/>
            <a:ext cx="1354634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DIGITAL WELLBEING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084213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06822" y="1657796"/>
            <a:ext cx="2388691" cy="2401491"/>
          </a:xfrm>
          <a:prstGeom prst="roundRect">
            <a:avLst>
              <a:gd name="adj" fmla="val 7478"/>
            </a:avLst>
          </a:prstGeom>
          <a:solidFill>
            <a:srgbClr val="FF7047"/>
          </a:solidFill>
          <a:ln/>
        </p:spPr>
      </p:sp>
      <p:sp>
        <p:nvSpPr>
          <p:cNvPr id="5" name="Text 2"/>
          <p:cNvSpPr/>
          <p:nvPr/>
        </p:nvSpPr>
        <p:spPr>
          <a:xfrm>
            <a:off x="530796" y="1781770"/>
            <a:ext cx="22103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Study Matters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30796" y="2099593"/>
            <a:ext cx="2140744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Social media has become inseparable from modern daily life — shaping how we communicate, consume information, and spend our time. Understanding these patterns is essential for fostering healthier digital habits.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013546" y="178177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Examined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013546" y="2099593"/>
            <a:ext cx="2210098" cy="1916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individuals engage with social media platforms on a daily basis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Awareness levels around cyber safety and responsible digital behavior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relationship between screen time and personal productivity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Behavioral differences across student and working populations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23379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358950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research was designed with four core goals to provide a structured understanding of social media's influence on users' lives.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882973"/>
            <a:ext cx="4013895" cy="1113532"/>
          </a:xfrm>
          <a:prstGeom prst="roundRect">
            <a:avLst>
              <a:gd name="adj" fmla="val 6159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1868686"/>
            <a:ext cx="4013895" cy="57150"/>
          </a:xfrm>
          <a:prstGeom prst="roundRect">
            <a:avLst>
              <a:gd name="adj" fmla="val 195349"/>
            </a:avLst>
          </a:prstGeom>
          <a:solidFill>
            <a:srgbClr val="FF7047"/>
          </a:solidFill>
          <a:ln/>
        </p:spPr>
      </p:sp>
      <p:sp>
        <p:nvSpPr>
          <p:cNvPr id="6" name="Shape 4"/>
          <p:cNvSpPr/>
          <p:nvPr/>
        </p:nvSpPr>
        <p:spPr>
          <a:xfrm>
            <a:off x="2317031" y="1696938"/>
            <a:ext cx="372070" cy="372070"/>
          </a:xfrm>
          <a:prstGeom prst="roundRect">
            <a:avLst>
              <a:gd name="adj" fmla="val 153600"/>
            </a:avLst>
          </a:prstGeom>
          <a:solidFill>
            <a:srgbClr val="FF7047"/>
          </a:solidFill>
          <a:ln/>
        </p:spPr>
      </p:sp>
      <p:sp>
        <p:nvSpPr>
          <p:cNvPr id="7" name="Text 5"/>
          <p:cNvSpPr/>
          <p:nvPr/>
        </p:nvSpPr>
        <p:spPr>
          <a:xfrm>
            <a:off x="2200052" y="1789956"/>
            <a:ext cx="3774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34380" y="2193057"/>
            <a:ext cx="224291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Usage Behavior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380" y="2461320"/>
            <a:ext cx="37373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Identify which platforms are most used and how frequently users engage with them throughout the day.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33987" y="1882973"/>
            <a:ext cx="4013895" cy="1113532"/>
          </a:xfrm>
          <a:prstGeom prst="roundRect">
            <a:avLst>
              <a:gd name="adj" fmla="val 6159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33987" y="1868686"/>
            <a:ext cx="4013895" cy="57150"/>
          </a:xfrm>
          <a:prstGeom prst="roundRect">
            <a:avLst>
              <a:gd name="adj" fmla="val 195349"/>
            </a:avLst>
          </a:prstGeom>
          <a:solidFill>
            <a:srgbClr val="FF7047"/>
          </a:solidFill>
          <a:ln/>
        </p:spPr>
      </p:sp>
      <p:sp>
        <p:nvSpPr>
          <p:cNvPr id="12" name="Shape 10"/>
          <p:cNvSpPr/>
          <p:nvPr/>
        </p:nvSpPr>
        <p:spPr>
          <a:xfrm>
            <a:off x="6454899" y="1696938"/>
            <a:ext cx="372070" cy="372070"/>
          </a:xfrm>
          <a:prstGeom prst="roundRect">
            <a:avLst>
              <a:gd name="adj" fmla="val 153600"/>
            </a:avLst>
          </a:prstGeom>
          <a:solidFill>
            <a:srgbClr val="FF7047"/>
          </a:solidFill>
          <a:ln/>
        </p:spPr>
      </p:sp>
      <p:sp>
        <p:nvSpPr>
          <p:cNvPr id="13" name="Text 11"/>
          <p:cNvSpPr/>
          <p:nvPr/>
        </p:nvSpPr>
        <p:spPr>
          <a:xfrm>
            <a:off x="6337920" y="1789956"/>
            <a:ext cx="3774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72248" y="2193057"/>
            <a:ext cx="272995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Cyber Safety Awareness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2248" y="2461320"/>
            <a:ext cx="37373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Assess how informed users are about online risks, privacy settings, and safe digital practices.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6119" y="3306514"/>
            <a:ext cx="4013895" cy="1113532"/>
          </a:xfrm>
          <a:prstGeom prst="roundRect">
            <a:avLst>
              <a:gd name="adj" fmla="val 6159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6119" y="3292227"/>
            <a:ext cx="4013895" cy="57150"/>
          </a:xfrm>
          <a:prstGeom prst="roundRect">
            <a:avLst>
              <a:gd name="adj" fmla="val 195349"/>
            </a:avLst>
          </a:prstGeom>
          <a:solidFill>
            <a:srgbClr val="FF7047"/>
          </a:solidFill>
          <a:ln/>
        </p:spPr>
      </p:sp>
      <p:sp>
        <p:nvSpPr>
          <p:cNvPr id="18" name="Shape 16"/>
          <p:cNvSpPr/>
          <p:nvPr/>
        </p:nvSpPr>
        <p:spPr>
          <a:xfrm>
            <a:off x="2317031" y="3120479"/>
            <a:ext cx="372070" cy="372070"/>
          </a:xfrm>
          <a:prstGeom prst="roundRect">
            <a:avLst>
              <a:gd name="adj" fmla="val 153600"/>
            </a:avLst>
          </a:prstGeom>
          <a:solidFill>
            <a:srgbClr val="FF7047"/>
          </a:solidFill>
          <a:ln/>
        </p:spPr>
      </p:sp>
      <p:sp>
        <p:nvSpPr>
          <p:cNvPr id="19" name="Text 17"/>
          <p:cNvSpPr/>
          <p:nvPr/>
        </p:nvSpPr>
        <p:spPr>
          <a:xfrm>
            <a:off x="2200052" y="3213497"/>
            <a:ext cx="3774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4380" y="3616598"/>
            <a:ext cx="260657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Screen Time Impact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4380" y="3884861"/>
            <a:ext cx="37373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Quantify daily screen time across user groups and identify patterns tied to age and platform preference.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33987" y="3306514"/>
            <a:ext cx="4013895" cy="1113532"/>
          </a:xfrm>
          <a:prstGeom prst="roundRect">
            <a:avLst>
              <a:gd name="adj" fmla="val 6159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33987" y="3292227"/>
            <a:ext cx="4013895" cy="57150"/>
          </a:xfrm>
          <a:prstGeom prst="roundRect">
            <a:avLst>
              <a:gd name="adj" fmla="val 195349"/>
            </a:avLst>
          </a:prstGeom>
          <a:solidFill>
            <a:srgbClr val="FF7047"/>
          </a:solidFill>
          <a:ln/>
        </p:spPr>
      </p:sp>
      <p:sp>
        <p:nvSpPr>
          <p:cNvPr id="24" name="Shape 22"/>
          <p:cNvSpPr/>
          <p:nvPr/>
        </p:nvSpPr>
        <p:spPr>
          <a:xfrm>
            <a:off x="6454899" y="3120479"/>
            <a:ext cx="372070" cy="372070"/>
          </a:xfrm>
          <a:prstGeom prst="roundRect">
            <a:avLst>
              <a:gd name="adj" fmla="val 153600"/>
            </a:avLst>
          </a:prstGeom>
          <a:solidFill>
            <a:srgbClr val="FF7047"/>
          </a:solidFill>
          <a:ln/>
        </p:spPr>
      </p:sp>
      <p:sp>
        <p:nvSpPr>
          <p:cNvPr id="25" name="Text 23"/>
          <p:cNvSpPr/>
          <p:nvPr/>
        </p:nvSpPr>
        <p:spPr>
          <a:xfrm>
            <a:off x="6337920" y="3213497"/>
            <a:ext cx="3774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72248" y="3616598"/>
            <a:ext cx="292916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Productivity Changes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72248" y="3884861"/>
            <a:ext cx="37373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Explore how varying levels of social media use correlate with self-reported productivity outcomes.</a:t>
            </a:r>
            <a:endParaRPr lang="en-US" sz="9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6DD0B27-D65B-30BD-3C89-71348BE12A3E}"/>
              </a:ext>
            </a:extLst>
          </p:cNvPr>
          <p:cNvSpPr/>
          <p:nvPr/>
        </p:nvSpPr>
        <p:spPr>
          <a:xfrm>
            <a:off x="7975600" y="4833257"/>
            <a:ext cx="1129482" cy="2530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2355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39912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757735"/>
            <a:ext cx="4347270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study utilized a structured survey methodology, collecting responses from a sample of </a:t>
            </a:r>
            <a:r>
              <a:rPr lang="en-US" sz="9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50 participants</a:t>
            </a: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spanning student and working professional demographics. Data was captured across key behavioral and demographic variables, then analyzed using Microsoft Excel for descriptive statistics and visual pattern identification.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287402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 Collected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3191842"/>
            <a:ext cx="4347270" cy="1165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Demographics:</a:t>
            </a: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Age group and gender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Platform preference:</a:t>
            </a: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Primary social media platform used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Usage frequency:</a:t>
            </a: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Daily hours spent on social media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Awareness ratings:</a:t>
            </a: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Self-assessed cyber safety knowledge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Productivity ratings:</a:t>
            </a: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Self-reported impact on work or study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150718" y="1455465"/>
            <a:ext cx="1688902" cy="972220"/>
          </a:xfrm>
          <a:prstGeom prst="roundRect">
            <a:avLst>
              <a:gd name="adj" fmla="val 11483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79454" y="1584201"/>
            <a:ext cx="188862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79454" y="1902023"/>
            <a:ext cx="143142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survey responses collected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963594" y="1455465"/>
            <a:ext cx="1688976" cy="972220"/>
          </a:xfrm>
          <a:prstGeom prst="roundRect">
            <a:avLst>
              <a:gd name="adj" fmla="val 11483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92330" y="1584201"/>
            <a:ext cx="188870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92330" y="1902023"/>
            <a:ext cx="143150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Major platforms analyzed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150718" y="2551658"/>
            <a:ext cx="1688902" cy="972220"/>
          </a:xfrm>
          <a:prstGeom prst="roundRect">
            <a:avLst>
              <a:gd name="adj" fmla="val 11483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79454" y="2680395"/>
            <a:ext cx="188862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79454" y="2998217"/>
            <a:ext cx="143142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 groups: students &amp; professionals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63594" y="2551658"/>
            <a:ext cx="1688976" cy="972220"/>
          </a:xfrm>
          <a:prstGeom prst="roundRect">
            <a:avLst>
              <a:gd name="adj" fmla="val 11483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92330" y="2680395"/>
            <a:ext cx="188870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92330" y="2998217"/>
            <a:ext cx="143150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Tool used for data analysis</a:t>
            </a:r>
            <a:endParaRPr lang="en-US" sz="9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4445CE-2667-CEC5-0A01-5F78AD705647}"/>
              </a:ext>
            </a:extLst>
          </p:cNvPr>
          <p:cNvSpPr/>
          <p:nvPr/>
        </p:nvSpPr>
        <p:spPr>
          <a:xfrm>
            <a:off x="7975600" y="4833257"/>
            <a:ext cx="1129482" cy="2530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7654" y="302940"/>
            <a:ext cx="3073747" cy="32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Overview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3619054" y="814760"/>
            <a:ext cx="5106293" cy="345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03726" y="1278657"/>
            <a:ext cx="153687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Responses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19054" y="1495127"/>
            <a:ext cx="5106293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Collected across student and working adult populations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19054" y="1878434"/>
            <a:ext cx="5106293" cy="345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5403726" y="2342331"/>
            <a:ext cx="153687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Platforms Analyzed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19054" y="2558802"/>
            <a:ext cx="5106293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Instagram, YouTube, WhatsApp, and Facebook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619054" y="2942109"/>
            <a:ext cx="5106293" cy="345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5403726" y="3406006"/>
            <a:ext cx="153687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Groups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619054" y="3622477"/>
            <a:ext cx="5106293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Students and working professionals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619054" y="4005783"/>
            <a:ext cx="5106293" cy="345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5403726" y="4469681"/>
            <a:ext cx="153687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Variables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619054" y="4686151"/>
            <a:ext cx="5106293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Age, gender, platform, usage hours, awareness &amp; productivity ratings</a:t>
            </a:r>
            <a:endParaRPr lang="en-US" sz="8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1FBC93-15F3-179F-81F8-0AFF17D50899}"/>
              </a:ext>
            </a:extLst>
          </p:cNvPr>
          <p:cNvSpPr/>
          <p:nvPr/>
        </p:nvSpPr>
        <p:spPr>
          <a:xfrm>
            <a:off x="7975600" y="4833257"/>
            <a:ext cx="1129482" cy="2530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4412"/>
            <a:ext cx="447481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Usage Distribution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27522"/>
            <a:ext cx="4770016" cy="26711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73464" y="111196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573464" y="1429792"/>
            <a:ext cx="3079105" cy="1897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Instagram leads</a:t>
            </a: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as the most popular platform, used by </a:t>
            </a:r>
            <a:r>
              <a:rPr lang="en-US" sz="950" b="1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40% of respondents</a:t>
            </a: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reflecting its strong appeal among younger audiences through visual content and short-form media.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YouTube follows as the second-most used platform, favored for long-form video content and educational material. WhatsApp remains dominant for direct messaging, while Facebook sees relatively lower engagement in this sample.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573464" y="3467100"/>
            <a:ext cx="3079105" cy="1122387"/>
          </a:xfrm>
          <a:prstGeom prst="roundRect">
            <a:avLst>
              <a:gd name="adj" fmla="val 9947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438" y="3656409"/>
            <a:ext cx="155004" cy="1239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76417" y="3622030"/>
            <a:ext cx="255217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Instagram's dominance aligns with broader national and global trends of visual-first social media consumption, particularly among users aged 18–30.</a:t>
            </a:r>
            <a:endParaRPr lang="en-US" sz="9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14905B-4350-5AF6-4DEB-C1761C9FF561}"/>
              </a:ext>
            </a:extLst>
          </p:cNvPr>
          <p:cNvSpPr/>
          <p:nvPr/>
        </p:nvSpPr>
        <p:spPr>
          <a:xfrm>
            <a:off x="7975600" y="4833257"/>
            <a:ext cx="1129482" cy="2530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3680"/>
            <a:ext cx="442748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Screen Time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211238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529060"/>
            <a:ext cx="3079105" cy="1897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majority of respondents — </a:t>
            </a:r>
            <a:r>
              <a:rPr lang="en-US" sz="950" b="1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40%</a:t>
            </a: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report spending </a:t>
            </a:r>
            <a:r>
              <a:rPr lang="en-US" sz="9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to 6 hours</a:t>
            </a: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per day on social media. This level of usage significantly exceeds most health and digital wellness guidelines, which recommend no more than 2 hours of recreational screen time daily.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notable </a:t>
            </a:r>
            <a:r>
              <a:rPr lang="en-US" sz="9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24% of users</a:t>
            </a: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exceed 6 hours per day, raising important concerns about the potential for addictive behavior and its downstream effects on sleep, focus, and productivity.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3566368"/>
            <a:ext cx="3079105" cy="923925"/>
          </a:xfrm>
          <a:prstGeom prst="roundRect">
            <a:avLst>
              <a:gd name="adj" fmla="val 12083"/>
            </a:avLst>
          </a:prstGeom>
          <a:solidFill>
            <a:srgbClr val="FCF2B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755678"/>
            <a:ext cx="155004" cy="123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9071" y="3721298"/>
            <a:ext cx="255217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Extended daily screen time is associated with reduced sleep quality and increased stress levels among regular users.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2554" y="1226790"/>
            <a:ext cx="4770016" cy="267116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39A9D32-47AB-5761-3AA4-41EF87CBA05B}"/>
              </a:ext>
            </a:extLst>
          </p:cNvPr>
          <p:cNvSpPr/>
          <p:nvPr/>
        </p:nvSpPr>
        <p:spPr>
          <a:xfrm>
            <a:off x="7975600" y="4833257"/>
            <a:ext cx="1129482" cy="2530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4412"/>
            <a:ext cx="406710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 Safety Awareness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27522"/>
            <a:ext cx="4770016" cy="26711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73464" y="1111969"/>
            <a:ext cx="212407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Awareness Breakdown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573464" y="1429792"/>
            <a:ext cx="3079105" cy="2096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While </a:t>
            </a:r>
            <a:r>
              <a:rPr lang="en-US" sz="950" b="1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64% of respondents</a:t>
            </a: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report high or medium cyber safety awareness, a closer look reveals that only 40% demonstrate a high level of informed digital behavior. This means the majority of users fall in a vulnerable middle ground — partially aware but not fully equipped to protect themselves online.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32 users</a:t>
            </a: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report actively following cyber safety practices, while </a:t>
            </a:r>
            <a:r>
              <a:rPr lang="en-US" sz="9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18 users</a:t>
            </a: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acknowledge gaps in their awareness — a group particularly at risk for phishing, data privacy violations, and online harassment.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573464" y="3665562"/>
            <a:ext cx="3079105" cy="923925"/>
          </a:xfrm>
          <a:prstGeom prst="roundRect">
            <a:avLst>
              <a:gd name="adj" fmla="val 12083"/>
            </a:avLst>
          </a:prstGeom>
          <a:solidFill>
            <a:srgbClr val="FFB3B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438" y="3854872"/>
            <a:ext cx="155004" cy="1239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76417" y="3820492"/>
            <a:ext cx="255217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Low-awareness users are significantly more susceptible to online scams, identity theft, and harmful digital interactions.</a:t>
            </a:r>
            <a:endParaRPr lang="en-US" sz="9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4F51B3-BE51-DEE4-6904-50B30005A2F1}"/>
              </a:ext>
            </a:extLst>
          </p:cNvPr>
          <p:cNvSpPr/>
          <p:nvPr/>
        </p:nvSpPr>
        <p:spPr>
          <a:xfrm>
            <a:off x="7975600" y="4833257"/>
            <a:ext cx="1129482" cy="2530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69168"/>
            <a:ext cx="5564981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Productivity Impact of Social Media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79" y="1066130"/>
            <a:ext cx="4781178" cy="26774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72125" y="1051099"/>
            <a:ext cx="2081361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Data Reveals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572125" y="1362001"/>
            <a:ext cx="3088184" cy="2240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Productivity levels are </a:t>
            </a:r>
            <a:r>
              <a:rPr lang="en-US" sz="9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almost evenly distributed</a:t>
            </a: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across high, medium, and low categories — yet cross-referencing with screen time data reveals a clear pattern: users who spend </a:t>
            </a:r>
            <a:r>
              <a:rPr lang="en-US" sz="950" b="1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or more hours</a:t>
            </a: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on social media are significantly more likely to report low productivity.</a:t>
            </a:r>
            <a:endParaRPr lang="en-US" sz="9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near-equal split between high and low productivity suggests that while social media is not inherently harmful, </a:t>
            </a:r>
            <a:r>
              <a:rPr lang="en-US" sz="9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unmanaged and excessive use</a:t>
            </a: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is a strong predictor of reduced output in academic and professional settings.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572125" y="3737670"/>
            <a:ext cx="3088184" cy="901378"/>
          </a:xfrm>
          <a:prstGeom prst="roundRect">
            <a:avLst>
              <a:gd name="adj" fmla="val 12192"/>
            </a:avLst>
          </a:prstGeom>
          <a:solidFill>
            <a:srgbClr val="FFC4B3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4164" y="3921547"/>
            <a:ext cx="152623" cy="1220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68826" y="3888358"/>
            <a:ext cx="2569443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Users who set intentional screen time boundaries report higher productivity and greater satisfaction with their digital habits.</a:t>
            </a:r>
            <a:endParaRPr lang="en-US" sz="9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FBFD73-6573-9F6D-29BC-5CE460F99E48}"/>
              </a:ext>
            </a:extLst>
          </p:cNvPr>
          <p:cNvSpPr/>
          <p:nvPr/>
        </p:nvSpPr>
        <p:spPr>
          <a:xfrm>
            <a:off x="7975600" y="4833257"/>
            <a:ext cx="1129482" cy="2530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39840" y="401017"/>
            <a:ext cx="4511129" cy="320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Conclusions &amp; Recommendations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3839840" y="934566"/>
            <a:ext cx="1741215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Findings</a:t>
            </a:r>
            <a:endParaRPr lang="en-US" sz="1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8387" y="1195908"/>
            <a:ext cx="154037" cy="15403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73662" y="1190774"/>
            <a:ext cx="1987525" cy="450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 platform engagement:</a:t>
            </a: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Instagram dominates usage, with most users spending 4–6 hours daily on social media.</a:t>
            </a:r>
            <a:endParaRPr lang="en-US" sz="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8387" y="1816522"/>
            <a:ext cx="154037" cy="15403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73662" y="1811387"/>
            <a:ext cx="1987525" cy="450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Moderate awareness gap:</a:t>
            </a: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 significant portion of users lack sufficient cyber safety knowledge, leaving them at risk.</a:t>
            </a:r>
            <a:endParaRPr lang="en-US" sz="8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8387" y="2437135"/>
            <a:ext cx="154037" cy="15403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173662" y="2432000"/>
            <a:ext cx="1987525" cy="600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Productivity at risk:</a:t>
            </a: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Excessive screen time is directly linked to reduced productivity across student and working groups.</a:t>
            </a:r>
            <a:endParaRPr lang="en-US" sz="800" dirty="0"/>
          </a:p>
        </p:txBody>
      </p:sp>
      <p:sp>
        <p:nvSpPr>
          <p:cNvPr id="11" name="Text 5"/>
          <p:cNvSpPr/>
          <p:nvPr/>
        </p:nvSpPr>
        <p:spPr>
          <a:xfrm>
            <a:off x="6416576" y="934566"/>
            <a:ext cx="1741215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12" name="Shape 6"/>
          <p:cNvSpPr/>
          <p:nvPr/>
        </p:nvSpPr>
        <p:spPr>
          <a:xfrm>
            <a:off x="6416576" y="1190774"/>
            <a:ext cx="2321347" cy="1095301"/>
          </a:xfrm>
          <a:prstGeom prst="roundRect">
            <a:avLst>
              <a:gd name="adj" fmla="val 6261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6402288" y="1190774"/>
            <a:ext cx="57150" cy="1095301"/>
          </a:xfrm>
          <a:prstGeom prst="roundRect">
            <a:avLst>
              <a:gd name="adj" fmla="val 161773"/>
            </a:avLst>
          </a:prstGeom>
          <a:solidFill>
            <a:srgbClr val="FF7047"/>
          </a:solidFill>
          <a:ln/>
        </p:spPr>
      </p:sp>
      <p:sp>
        <p:nvSpPr>
          <p:cNvPr id="14" name="Text 8"/>
          <p:cNvSpPr/>
          <p:nvPr/>
        </p:nvSpPr>
        <p:spPr>
          <a:xfrm>
            <a:off x="6576417" y="1307753"/>
            <a:ext cx="2044526" cy="325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🛡️</a:t>
            </a: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Strengthen Cyber Safety Education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6576417" y="1718593"/>
            <a:ext cx="2044526" cy="450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Integrate digital literacy and cyber safety training into educational curricula and workplace onboarding programs.</a:t>
            </a:r>
            <a:endParaRPr lang="en-US" sz="800" dirty="0"/>
          </a:p>
        </p:txBody>
      </p:sp>
      <p:sp>
        <p:nvSpPr>
          <p:cNvPr id="16" name="Shape 10"/>
          <p:cNvSpPr/>
          <p:nvPr/>
        </p:nvSpPr>
        <p:spPr>
          <a:xfrm>
            <a:off x="6416576" y="2371130"/>
            <a:ext cx="2321347" cy="1095301"/>
          </a:xfrm>
          <a:prstGeom prst="roundRect">
            <a:avLst>
              <a:gd name="adj" fmla="val 6261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402288" y="2371130"/>
            <a:ext cx="57150" cy="1095301"/>
          </a:xfrm>
          <a:prstGeom prst="roundRect">
            <a:avLst>
              <a:gd name="adj" fmla="val 161773"/>
            </a:avLst>
          </a:prstGeom>
          <a:solidFill>
            <a:srgbClr val="FF7047"/>
          </a:solidFill>
          <a:ln/>
        </p:spPr>
      </p:sp>
      <p:sp>
        <p:nvSpPr>
          <p:cNvPr id="18" name="Text 12"/>
          <p:cNvSpPr/>
          <p:nvPr/>
        </p:nvSpPr>
        <p:spPr>
          <a:xfrm>
            <a:off x="6576417" y="2488109"/>
            <a:ext cx="2044526" cy="325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⏱️</a:t>
            </a: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Reduce Recreational Screen Time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6576417" y="2898949"/>
            <a:ext cx="2044526" cy="450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Encourage users to adopt screen time management tools and set daily usage limits to protect focus and wellbeing.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6416576" y="3551486"/>
            <a:ext cx="2321347" cy="1095301"/>
          </a:xfrm>
          <a:prstGeom prst="roundRect">
            <a:avLst>
              <a:gd name="adj" fmla="val 6261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02288" y="3551486"/>
            <a:ext cx="57150" cy="1095301"/>
          </a:xfrm>
          <a:prstGeom prst="roundRect">
            <a:avLst>
              <a:gd name="adj" fmla="val 161773"/>
            </a:avLst>
          </a:prstGeom>
          <a:solidFill>
            <a:srgbClr val="FF7047"/>
          </a:solidFill>
          <a:ln/>
        </p:spPr>
      </p:sp>
      <p:sp>
        <p:nvSpPr>
          <p:cNvPr id="22" name="Text 16"/>
          <p:cNvSpPr/>
          <p:nvPr/>
        </p:nvSpPr>
        <p:spPr>
          <a:xfrm>
            <a:off x="6576417" y="3668464"/>
            <a:ext cx="2044526" cy="325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📈</a:t>
            </a: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Promote Productive Digital Use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576417" y="4079304"/>
            <a:ext cx="2044526" cy="450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Guide users toward purposeful, goal-oriented social media engagement that supports learning and professional growth.</a:t>
            </a:r>
            <a:endParaRPr lang="en-US" sz="8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8A28EA-6016-59C5-A6B9-2A8B1955FC98}"/>
              </a:ext>
            </a:extLst>
          </p:cNvPr>
          <p:cNvSpPr/>
          <p:nvPr/>
        </p:nvSpPr>
        <p:spPr>
          <a:xfrm>
            <a:off x="7975600" y="4833257"/>
            <a:ext cx="1129482" cy="2530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937</Words>
  <Application>Microsoft Office PowerPoint</Application>
  <PresentationFormat>On-screen Show (16:9)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Manrope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Sighakolli Sujatha</cp:lastModifiedBy>
  <cp:revision>2</cp:revision>
  <dcterms:created xsi:type="dcterms:W3CDTF">2026-05-20T09:00:18Z</dcterms:created>
  <dcterms:modified xsi:type="dcterms:W3CDTF">2026-05-20T09:02:33Z</dcterms:modified>
</cp:coreProperties>
</file>